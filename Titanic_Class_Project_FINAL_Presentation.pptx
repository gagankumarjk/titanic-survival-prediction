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832DF-4DD1-4AA0-87B1-1DA439A84E3E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4197E-73C4-4B60-A185-ED2858047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358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23-Sep-26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109728" cy="685800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3657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32235"/>
                </a:solidFill>
              </a:defRPr>
            </a:pPr>
            <a:r>
              <a:t>TITANIC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68B8"/>
                </a:solidFill>
              </a:defRPr>
            </a:pPr>
            <a:r>
              <a:t>Survival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9875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626D79"/>
                </a:solidFill>
              </a:defRPr>
            </a:pPr>
            <a:r>
              <a:t>Data Cleaning  •  EDA  •  Decision Tree  •  Random Forest</a:t>
            </a:r>
            <a:br/>
            <a:r>
              <a:t>Class Imbalance Handling  •  Model Comparison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B0E9BD-B7BB-30C3-9477-4B9CDA3BD1DF}"/>
              </a:ext>
            </a:extLst>
          </p:cNvPr>
          <p:cNvSpPr txBox="1"/>
          <p:nvPr/>
        </p:nvSpPr>
        <p:spPr>
          <a:xfrm>
            <a:off x="6218829" y="4471663"/>
            <a:ext cx="5744571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Presented By: GAGAN KUMAR J K</a:t>
            </a:r>
            <a:br>
              <a:rPr lang="en-US" sz="3200" dirty="0"/>
            </a:br>
            <a:r>
              <a:rPr lang="en-US" sz="3200" dirty="0"/>
              <a:t>                         CHETAN KUMAR</a:t>
            </a:r>
            <a:br>
              <a:rPr lang="en-US" sz="3200" dirty="0"/>
            </a:br>
            <a:r>
              <a:rPr lang="en-US" sz="3200" dirty="0"/>
              <a:t>                         CHITHRA</a:t>
            </a:r>
            <a:br>
              <a:rPr lang="en-US" sz="3200" dirty="0"/>
            </a:br>
            <a:r>
              <a:rPr lang="en-US" sz="3200" dirty="0"/>
              <a:t>                         NEHAAL R</a:t>
            </a:r>
            <a:br>
              <a:rPr lang="en-US" sz="3200" dirty="0"/>
            </a:b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Project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The story of the project from raw data to model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132588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01  Understand data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32588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246120" cy="132588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02  Clean &amp; engineer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32588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8792" y="1325880"/>
            <a:ext cx="3246120" cy="132588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03  EDA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3154680"/>
            <a:ext cx="3246120" cy="132588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04  Train baseline models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3154680"/>
            <a:ext cx="3246120" cy="132588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05  Handle imbalance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3154680"/>
            <a:ext cx="73152" cy="1325880"/>
          </a:xfrm>
          <a:prstGeom prst="rect">
            <a:avLst/>
          </a:prstGeom>
          <a:solidFill>
            <a:srgbClr val="7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3154680"/>
            <a:ext cx="3246120" cy="132588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06  Compare &amp; interpret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3154680"/>
            <a:ext cx="73152" cy="13258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What are we predicting?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20640" cy="14173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Target variable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survived → 0 = did not survive, 1 = survived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880360"/>
            <a:ext cx="5120640" cy="141732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Problem type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Supervised learning • Binary classification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880360"/>
            <a:ext cx="73152" cy="141732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Learn patterns from passenger information.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Predict survival for unseen passengers.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Compare a single Decision Tree with ensemble methods.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Test whether imbalance-handling improves minority-class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2. Dataset &amp; Initial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The notebook begins with structure, statistics, nulls and duplicates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2423160" cy="11887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Original rows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891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Titanic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34440"/>
            <a:ext cx="2423160" cy="118872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Original columns</a:t>
            </a:r>
          </a:p>
          <a:p>
            <a:pPr>
              <a:defRPr sz="2500" b="1">
                <a:solidFill>
                  <a:srgbClr val="1B8B81"/>
                </a:solidFill>
              </a:defRPr>
            </a:pPr>
            <a:r>
              <a:t>15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Variables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2423160" cy="11887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Duplicates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107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Removed in notebook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234440"/>
            <a:ext cx="2423160" cy="11887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Final rows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784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After cleaning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df.info() → data types and non-null counts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df.describe(include='all') → statistical summary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df.isnull().sum() → missing-value inspection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df.duplicated().sum() → duplicate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3.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Why each transformation was performed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2743200" cy="68580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Age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Median imputation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0" y="124358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177 missing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83664"/>
            <a:ext cx="2743200" cy="68580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Embarked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Mode imputation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83664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029968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2 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70048"/>
            <a:ext cx="2743200" cy="68580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Deck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Create deck_known, then drop deck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70048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81635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Avoid large missing-category 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56432"/>
            <a:ext cx="2743200" cy="68580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Alive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Drop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56432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360273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Directly reveals survival → target leakage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42816"/>
            <a:ext cx="2743200" cy="68580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who / alone / adult_male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42816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438912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Redundant or derived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2743200" cy="68580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class / embark_town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Drop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29200"/>
            <a:ext cx="73152" cy="685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0" y="517550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26D79"/>
                </a:solidFill>
              </a:defRPr>
            </a:pPr>
            <a:r>
              <a:t>Duplicate representations of pclass / embarked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4.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Create features that express passenger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146304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family_size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sibsp + parch + 1</a:t>
            </a:r>
            <a:br/>
            <a:r>
              <a:t>Captures the total family group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46304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5029200" cy="146304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deck_known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1 if deck information is present, otherwise 0.</a:t>
            </a:r>
            <a:br/>
            <a:r>
              <a:t>Retains missingness information without using the mostly-missing deck category.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71800"/>
            <a:ext cx="73152" cy="146304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0" y="1234440"/>
            <a:ext cx="5029200" cy="146304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Final predictors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pclass • sex • age • fare • embarked • deck_known • family_size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73152" cy="146304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0" y="2971800"/>
            <a:ext cx="5029200" cy="146304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Encoding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Object/categorical columns are converted to numeric category codes before modeling.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971800"/>
            <a:ext cx="73152" cy="146304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5. EDA — Survival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Understand the target before modeling</a:t>
            </a:r>
          </a:p>
        </p:txBody>
      </p:sp>
      <p:pic>
        <p:nvPicPr>
          <p:cNvPr id="5" name="Picture 4" descr="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577840" cy="3560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32588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After the notebook cleaning, the target is approximately 58.8% class 0 and 41.2% class 1.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The classes are not perfectly balanced.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This provides a reason to test resampling methods.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Sampling must be applied to training data—not the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6. EDA — Survival by Sex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A strong relationship visible in the data</a:t>
            </a:r>
          </a:p>
        </p:txBody>
      </p:sp>
      <p:pic>
        <p:nvPicPr>
          <p:cNvPr id="5" name="Picture 4" descr="s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577840" cy="356023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325880"/>
            <a:ext cx="2057400" cy="123444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Female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74.2%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survival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325880"/>
            <a:ext cx="2057400" cy="123444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Male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18.9%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survival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971800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Sex becomes an important predictive variable.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EDA helps explain why the tree may choose sex-related splits.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7. Train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How we prevent an overly optimistic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4846320" cy="14173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rPr dirty="0"/>
              <a:t>Training data — </a:t>
            </a:r>
            <a:r>
              <a:rPr lang="en-US" dirty="0"/>
              <a:t>7</a:t>
            </a:r>
            <a:r>
              <a:rPr dirty="0"/>
              <a:t>0%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rPr dirty="0"/>
              <a:t>Used to learn model parameters and perform sampling.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41732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3063240"/>
            <a:ext cx="4846320" cy="14173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rPr dirty="0"/>
              <a:t>Test data — </a:t>
            </a:r>
            <a:r>
              <a:rPr lang="en-US" dirty="0"/>
              <a:t>3</a:t>
            </a:r>
            <a:r>
              <a:rPr dirty="0"/>
              <a:t>0%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rPr dirty="0"/>
              <a:t>Held back for final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141732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371600"/>
            <a:ext cx="475488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 err="1"/>
              <a:t>test_size</a:t>
            </a:r>
            <a:r>
              <a:rPr dirty="0"/>
              <a:t> = 0.</a:t>
            </a:r>
            <a:r>
              <a:rPr lang="en-US" dirty="0"/>
              <a:t>30</a:t>
            </a:r>
            <a:endParaRPr dirty="0"/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 err="1"/>
              <a:t>random_state</a:t>
            </a:r>
            <a:r>
              <a:rPr dirty="0"/>
              <a:t> = 42 → reproducible split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stratify = y → preserves target-class proportions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Resampling is performed only on training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8. Decision Tree — How the Model Thinks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A tree makes sequential if/then decisions</a:t>
            </a:r>
          </a:p>
        </p:txBody>
      </p:sp>
      <p:pic>
        <p:nvPicPr>
          <p:cNvPr id="5" name="Picture 4" descr="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498079" cy="375191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234440"/>
            <a:ext cx="3154680" cy="114300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max_depth = 4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The tree can grow to at most four decision levels.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75320" y="1234440"/>
            <a:ext cx="73152" cy="11430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75320" y="2651760"/>
            <a:ext cx="3154680" cy="132588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Node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A condition such as a feature threshold/category code.</a:t>
            </a:r>
            <a:br/>
            <a:r>
              <a:t>It splits the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2651760"/>
            <a:ext cx="73152" cy="132588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75320" y="4206240"/>
            <a:ext cx="3154680" cy="123444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Leaf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Final prediction based on the class distribution reaching that leaf.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4206240"/>
            <a:ext cx="73152" cy="123444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9. Decision Tree Structure — Read One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How to interpret the tree visually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423160" cy="105156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ROOT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First split chosen by the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05156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0" y="1325880"/>
            <a:ext cx="2423160" cy="105156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INTERNAL NODE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Another 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325880"/>
            <a:ext cx="73152" cy="105156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0" y="1325880"/>
            <a:ext cx="2423160" cy="105156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BRANCH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Condition outcome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325880"/>
            <a:ext cx="73152" cy="105156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640" y="1325880"/>
            <a:ext cx="1828800" cy="105156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LEAF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0" y="1325880"/>
            <a:ext cx="73152" cy="105156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063240" y="1847088"/>
            <a:ext cx="594360" cy="0"/>
          </a:xfrm>
          <a:prstGeom prst="line">
            <a:avLst/>
          </a:prstGeom>
          <a:ln w="25400">
            <a:solidFill>
              <a:srgbClr val="626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1847088"/>
            <a:ext cx="594360" cy="0"/>
          </a:xfrm>
          <a:prstGeom prst="line">
            <a:avLst/>
          </a:prstGeom>
          <a:ln w="25400">
            <a:solidFill>
              <a:srgbClr val="626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1847088"/>
            <a:ext cx="594360" cy="0"/>
          </a:xfrm>
          <a:prstGeom prst="line">
            <a:avLst/>
          </a:prstGeom>
          <a:ln w="25400">
            <a:solidFill>
              <a:srgbClr val="626D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01752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The algorithm searches for splits that make the resulting groups more class-pure.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At a leaf, the model assigns the class with the strongest learned evidence.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max_depth = 4 limits how many levels can be used.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 shallow tree is easier to explain but may miss complex interactions.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10. Decision Tree — What Your Result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Baseline: Decision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468880" cy="132588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Accuracy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79.62%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325880"/>
            <a:ext cx="2468880" cy="132588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Precision</a:t>
            </a:r>
          </a:p>
          <a:p>
            <a:pPr>
              <a:defRPr sz="2500" b="1">
                <a:solidFill>
                  <a:srgbClr val="1B8B81"/>
                </a:solidFill>
              </a:defRPr>
            </a:pPr>
            <a:r>
              <a:t>86.67%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2468880" cy="132588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Recall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60.00%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325880"/>
            <a:ext cx="2468880" cy="132588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F1</a:t>
            </a:r>
          </a:p>
          <a:p>
            <a:pPr>
              <a:defRPr sz="2500" b="1">
                <a:solidFill>
                  <a:srgbClr val="BE4646"/>
                </a:solidFill>
              </a:defRPr>
            </a:pPr>
            <a:r>
              <a:t>70.91%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The tree has high precision but comparatively low recall.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Interpretation: when it predicts survival, it is often correct, but it misses a substantial number of actual survivors.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This motivates testing class-imbalance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648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11. Random Forest — From One Tree to Many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Ensemble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234440" cy="82296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Tree 1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vote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82296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86000" y="1920240"/>
            <a:ext cx="1234440" cy="82296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Tree 2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vote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920240"/>
            <a:ext cx="73152" cy="82296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0480" y="1280160"/>
            <a:ext cx="1234440" cy="82296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Tree 3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vote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80160"/>
            <a:ext cx="73152" cy="82296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94960" y="1920240"/>
            <a:ext cx="1234440" cy="82296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Tree 4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vote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1920240"/>
            <a:ext cx="73152" cy="822960"/>
          </a:xfrm>
          <a:prstGeom prst="rect">
            <a:avLst/>
          </a:prstGeom>
          <a:solidFill>
            <a:srgbClr val="7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43200" y="3657600"/>
            <a:ext cx="3108960" cy="109728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Aggregation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Combine tree predictions → final class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657600"/>
            <a:ext cx="73152" cy="109728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1840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Random Forest trains many decision trees.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Bootstrap samples and feature randomness make the trees less identical.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The final prediction is based on the ensemble.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Baseline Random Forest in your results: 82.17% accuracy.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12. Why Sampling?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The objective is better minority-class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37560" cy="14173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RandomOverSampler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Duplicates minority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41732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34840" y="1234440"/>
            <a:ext cx="3337560" cy="141732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SMOTE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Creates synthetic minority examples using nearby minority observations.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3337560" cy="14173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ADASYN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Creates more synthetic examples in harder minority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73152" cy="141732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3337560" cy="14173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SMOTE-Tomek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SMOTE + removes some overlapping/borderline pairs.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3063240"/>
            <a:ext cx="3337560" cy="141732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SMOTEENN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SMOTE + removes samples judged noisy/ambiguous by ENN.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063240"/>
            <a:ext cx="73152" cy="1417320"/>
          </a:xfrm>
          <a:prstGeom prst="rect">
            <a:avLst/>
          </a:prstGeom>
          <a:solidFill>
            <a:srgbClr val="7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3063240"/>
            <a:ext cx="3337560" cy="141732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Bagging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Trains multiple models on bootstrap samples and aggregates predictions.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063240"/>
            <a:ext cx="73152" cy="14173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13. RandomOverSampler (ROS)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Simple duplication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Find the minority class.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Randomly duplicate minority observations.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Train the model on the more balanced training set.</a:t>
            </a:r>
          </a:p>
          <a:p>
            <a:pPr>
              <a:spcAft>
                <a:spcPts val="900"/>
              </a:spcAft>
              <a:defRPr sz="1800">
                <a:solidFill>
                  <a:srgbClr val="2D3741"/>
                </a:solidFill>
              </a:defRPr>
            </a:pPr>
            <a:r>
              <a:t>No synthetic values are created.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2103120" cy="11887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ROS + RF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83.44%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234440"/>
            <a:ext cx="2103120" cy="11887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Recall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87.69%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highest in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2103120" cy="11887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F1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81.43%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highest in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743200"/>
            <a:ext cx="2103120" cy="118872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Precision</a:t>
            </a:r>
          </a:p>
          <a:p>
            <a:pPr>
              <a:defRPr sz="2500" b="1">
                <a:solidFill>
                  <a:srgbClr val="BE4646"/>
                </a:solidFill>
              </a:defRPr>
            </a:pPr>
            <a:r>
              <a:t>76.00%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trade-off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14. SMOTE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Synthetic Minority Over-sampling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Select a minority-class observation.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Find nearby minority-class neighbors.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Create a synthetic point between them.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Repeat until the desired training balance is reached.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4663440" cy="123444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Your result — SMOTE + RF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Accuracy 82.80%  •  Recall 86.15%  •  F1 80.58%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34440"/>
            <a:ext cx="73152" cy="123444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4663440" cy="123444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Why it differs from ROS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SMOTE adds new synthetic observations rather than exact duplicates.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743200"/>
            <a:ext cx="73152" cy="123444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15. ADASYN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Adaptive Synthetic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ADASYN is related to SMOTE.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It adapts synthetic generation toward minority examples that are harder to learn.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This can emphasize difficult decision-boundary regions.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Its performance depends on the dataset and classifier.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234440"/>
            <a:ext cx="2011680" cy="11887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ADASYN + DT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82.80%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011680" cy="11887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Precision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86.54%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high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743200"/>
            <a:ext cx="2011680" cy="11887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Recall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69.23%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lower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743200"/>
            <a:ext cx="2011680" cy="118872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F1</a:t>
            </a:r>
          </a:p>
          <a:p>
            <a:pPr>
              <a:defRPr sz="2500" b="1">
                <a:solidFill>
                  <a:srgbClr val="7458A6"/>
                </a:solidFill>
              </a:defRPr>
            </a:pPr>
            <a:r>
              <a:t>76.92%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16. SMOTE-Tomek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Oversampling + boundary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200400" cy="132588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Step 1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SMOTE generates synthetic minority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32588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200400" cy="132588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Step 2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Tomek links identify very close opposite-class pairs.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73152" cy="132588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280160"/>
            <a:ext cx="3200400" cy="132588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Step 3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Remove some ambiguous/overlapping observations.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280160"/>
            <a:ext cx="73152" cy="132588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828800" y="3337560"/>
            <a:ext cx="2468880" cy="123444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Accuracy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83.44%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3337560"/>
            <a:ext cx="2468880" cy="123444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Recall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86.15%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337560"/>
            <a:ext cx="2468880" cy="123444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F1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81.16%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17. SMOTEENN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Oversampling + aggressive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200400" cy="132588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SMOTE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Generate synthetic minority examples.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32588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200400" cy="132588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ENN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Remove samples whose nearest-neighbor class pattern suggests noise/ambiguity.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280160"/>
            <a:ext cx="73152" cy="1325880"/>
          </a:xfrm>
          <a:prstGeom prst="rect">
            <a:avLst/>
          </a:prstGeom>
          <a:solidFill>
            <a:srgbClr val="745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5320" y="1280160"/>
            <a:ext cx="3200400" cy="132588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Your result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78.34% RF • 77.07% DT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280160"/>
            <a:ext cx="73152" cy="13258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In this experiment, SMOTEENN produced lower accuracy than the other approaches.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That does not mean SMOTEENN is universally poor; it means this particular combination did not perform as well on this dataset/setup.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18. BaggingClassifier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Bootstrap Aggregating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5669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Create multiple bootstrap training samples.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Train a base estimator on each sample.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Aggregate the predictions.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You tested both Decision Tree and Random Forest as ensemble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1234440"/>
            <a:ext cx="2011680" cy="11887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Bagging + DT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81.53%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234440"/>
            <a:ext cx="2011680" cy="11887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Precision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90.91%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highest 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743200"/>
            <a:ext cx="2011680" cy="118872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Bagging + RF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81.53%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2743200"/>
            <a:ext cx="2011680" cy="1188720"/>
          </a:xfrm>
          <a:prstGeom prst="roundRect">
            <a:avLst/>
          </a:prstGeom>
          <a:solidFill>
            <a:srgbClr val="FAE8E8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Recall</a:t>
            </a:r>
          </a:p>
          <a:p>
            <a:pPr>
              <a:defRPr sz="2500" b="1">
                <a:solidFill>
                  <a:srgbClr val="BE4646"/>
                </a:solidFill>
              </a:defRPr>
            </a:pPr>
            <a:r>
              <a:t>61.54–66.15%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lower recall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19. Evaluation Metrics — Know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Use the confusion matrix to understand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606040" cy="182880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Accuracy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(TP + TN) / all predictions</a:t>
            </a:r>
            <a:br/>
            <a:r>
              <a:t>Overall correctness.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73152" cy="18288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37560" y="1188720"/>
            <a:ext cx="2606040" cy="182880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Precision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TP / (TP + FP)</a:t>
            </a:r>
            <a:br/>
            <a:r>
              <a:t>How reliable positive predictions 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88720"/>
            <a:ext cx="73152" cy="182880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80760" y="1188720"/>
            <a:ext cx="2606040" cy="182880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Recall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TP / (TP + FN)</a:t>
            </a:r>
            <a:br/>
            <a:r>
              <a:t>How many actual positives were found.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188720"/>
            <a:ext cx="73152" cy="1828800"/>
          </a:xfrm>
          <a:prstGeom prst="rect">
            <a:avLst/>
          </a:prstGeom>
          <a:solidFill>
            <a:srgbClr val="DB8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23960" y="1188720"/>
            <a:ext cx="2606040" cy="182880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F1 Score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2 × Precision × Recall / (Precision + Recall)</a:t>
            </a:r>
            <a:br/>
            <a:r>
              <a:t>Balances both.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188720"/>
            <a:ext cx="73152" cy="182880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Baseline RF: high precision (87.76%) but recall only 66.15%.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ROS + RF: precision falls to 76.00%, while recall rises to 87.69%.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This demonstrates the precision–recall trade-off created by resampling.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20. Complete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Exact results supplied for the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051560"/>
          <a:ext cx="11411712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F1 Score</a:t>
                      </a:r>
                    </a:p>
                  </a:txBody>
                  <a:tcPr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SMOTE-Tomek + Random Forest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0.8344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0.7671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0.8615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0.8116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ROS + Random Forest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0.8344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0.7600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0.8769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0.8143</a:t>
                      </a:r>
                    </a:p>
                  </a:txBody>
                  <a:tcPr>
                    <a:solidFill>
                      <a:srgbClr val="E5F4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ADASYN + 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 + Random Forest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0.8280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0.7568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0.8615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0.8058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ADASYN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E6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0.8217</a:t>
                      </a:r>
                    </a:p>
                  </a:txBody>
                  <a:tcPr>
                    <a:solidFill>
                      <a:srgbClr val="E6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0.8776</a:t>
                      </a:r>
                    </a:p>
                  </a:txBody>
                  <a:tcPr>
                    <a:solidFill>
                      <a:srgbClr val="E6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0.6615</a:t>
                      </a:r>
                    </a:p>
                  </a:txBody>
                  <a:tcPr>
                    <a:solidFill>
                      <a:srgbClr val="E6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0.7544</a:t>
                      </a:r>
                    </a:p>
                  </a:txBody>
                  <a:tcPr>
                    <a:solidFill>
                      <a:srgbClr val="E6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Bagging Classifier 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Bagging Classifier DT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0.8153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0.9091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0.6154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0.7339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ROS + 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SMOTE-Tomek + Decision Tree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0.8025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0.8542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0.6308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0.7257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 + 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0.7463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0.7962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0.8667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0.7091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SMOTEENN +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SMOTEENN + Decision Tree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0.7707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0.6933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solidFill>
                            <a:srgbClr val="132235"/>
                          </a:solidFill>
                        </a:defRPr>
                      </a:pPr>
                      <a:r>
                        <a:t>0.7429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21. Results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Accuracy and F1 across all experiments</a:t>
            </a:r>
          </a:p>
        </p:txBody>
      </p:sp>
      <p:pic>
        <p:nvPicPr>
          <p:cNvPr id="5" name="Picture 4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669280" cy="3947584"/>
          </a:xfrm>
          <a:prstGeom prst="rect">
            <a:avLst/>
          </a:prstGeom>
        </p:spPr>
      </p:pic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577840" cy="331571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22. Interpreting the Best-Performing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Use the metric profile, not accuracy alone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166360" cy="160020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SMOTE-Tomek + Random Forest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83.44% accuracy • 76.71% precision • 86.15% recall • 81.16% F1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73152" cy="160020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5166360" cy="160020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ROS + Random Forest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83.44% accuracy • 76.00% precision • 87.69% recall • 81.43% F1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43000"/>
            <a:ext cx="73152" cy="160020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4241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Accuracy is tied at 83.44%.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ROS + RF has higher recall and higher F1 in the supplied table.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SMOTE-Tomek + RF has slightly higher precision.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Therefore, if the presentation uses F1/Recall as the main selection criteria, ROS + Random Forest is the strongest candidate among these tested models.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Final selection should still be validated with cross-validation before claiming generalization.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24. Next Steps to Make the Result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How to turn this into a more rigorous ML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83280" cy="141732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5-Fold Cross-Validation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Check whether the top performance is stable across folds.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306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383280" cy="1417320"/>
          </a:xfrm>
          <a:prstGeom prst="roundRect">
            <a:avLst/>
          </a:prstGeom>
          <a:solidFill>
            <a:srgbClr val="E3F5F2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Hyperparameter Tuning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Tune max_depth, min_samples_split, min_samples_leaf, n_estimators and max_features.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34440"/>
            <a:ext cx="73152" cy="1417320"/>
          </a:xfrm>
          <a:prstGeom prst="rect">
            <a:avLst/>
          </a:prstGeom>
          <a:solidFill>
            <a:srgbClr val="1B8B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92440" y="1234440"/>
            <a:ext cx="3383280" cy="141732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32235"/>
                </a:solidFill>
              </a:defRPr>
            </a:pPr>
            <a:r>
              <a:t>Pipeline</a:t>
            </a:r>
          </a:p>
          <a:p>
            <a:pPr>
              <a:defRPr sz="1150">
                <a:solidFill>
                  <a:srgbClr val="626D79"/>
                </a:solidFill>
              </a:defRPr>
            </a:pPr>
            <a:r>
              <a:t>Keep sampling inside each training fold to prevent leakage.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318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Do not select a model only because it produced the highest score on one test split.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Compare mean CV Accuracy, F1 and ROC-AUC plus variability.</a:t>
            </a:r>
          </a:p>
          <a:p>
            <a:pPr>
              <a:spcAft>
                <a:spcPts val="900"/>
              </a:spcAft>
              <a:defRPr sz="1600">
                <a:solidFill>
                  <a:srgbClr val="2D3741"/>
                </a:solidFill>
              </a:defRPr>
            </a:pPr>
            <a:r>
              <a:t>Keep the final test set untouched until the model-selection process is finished.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2235"/>
                </a:solidFill>
              </a:defRPr>
            </a:pPr>
            <a:r>
              <a:t>25. Final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26D79"/>
                </a:solidFill>
              </a:defRPr>
            </a:pPr>
            <a:r>
              <a:t>The complete story in four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468880" cy="1234440"/>
          </a:xfrm>
          <a:prstGeom prst="roundRect">
            <a:avLst/>
          </a:prstGeom>
          <a:solidFill>
            <a:srgbClr val="E5F4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Highest Accuracy</a:t>
            </a:r>
          </a:p>
          <a:p>
            <a:pPr>
              <a:defRPr sz="2500" b="1">
                <a:solidFill>
                  <a:srgbClr val="318F5B"/>
                </a:solidFill>
              </a:defRPr>
            </a:pPr>
            <a:r>
              <a:t>83.44%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2 models tied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34440"/>
            <a:ext cx="2468880" cy="1234440"/>
          </a:xfrm>
          <a:prstGeom prst="roundRect">
            <a:avLst/>
          </a:prstGeom>
          <a:solidFill>
            <a:srgbClr val="E6EF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Highest Recall</a:t>
            </a:r>
          </a:p>
          <a:p>
            <a:pPr>
              <a:defRPr sz="2500" b="1">
                <a:solidFill>
                  <a:srgbClr val="3068B8"/>
                </a:solidFill>
              </a:defRPr>
            </a:pPr>
            <a:r>
              <a:t>87.69%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ROS + RF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2468880" cy="1234440"/>
          </a:xfrm>
          <a:prstGeom prst="roundRect">
            <a:avLst/>
          </a:prstGeom>
          <a:solidFill>
            <a:srgbClr val="FCF0E0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Highest F1</a:t>
            </a:r>
          </a:p>
          <a:p>
            <a:pPr>
              <a:defRPr sz="2500" b="1">
                <a:solidFill>
                  <a:srgbClr val="DB802A"/>
                </a:solidFill>
              </a:defRPr>
            </a:pPr>
            <a:r>
              <a:t>81.43%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ROS + RF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34440"/>
            <a:ext cx="2468880" cy="1234440"/>
          </a:xfrm>
          <a:prstGeom prst="roundRect">
            <a:avLst/>
          </a:prstGeom>
          <a:solidFill>
            <a:srgbClr val="EEE9F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626D79"/>
                </a:solidFill>
              </a:defRPr>
            </a:pPr>
            <a:r>
              <a:t>Baseline RF</a:t>
            </a:r>
          </a:p>
          <a:p>
            <a:pPr>
              <a:defRPr sz="2500" b="1">
                <a:solidFill>
                  <a:srgbClr val="7458A6"/>
                </a:solidFill>
              </a:defRPr>
            </a:pPr>
            <a:r>
              <a:t>82.17%</a:t>
            </a:r>
          </a:p>
          <a:p>
            <a:pPr>
              <a:defRPr sz="950">
                <a:solidFill>
                  <a:srgbClr val="626D79"/>
                </a:solidFill>
              </a:defRPr>
            </a:pPr>
            <a:r>
              <a:t>before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Decision Tree gives interpretability; Random Forest gives an ensemble of trees.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Sampling changes the precision–recall balance, not just the accuracy.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ROS + Random Forest is the strongest candidate in the supplied results when considering F1 and Recall together.</a:t>
            </a:r>
          </a:p>
          <a:p>
            <a:pPr>
              <a:spcAft>
                <a:spcPts val="900"/>
              </a:spcAft>
              <a:defRPr sz="1700">
                <a:solidFill>
                  <a:srgbClr val="2D3741"/>
                </a:solidFill>
              </a:defRPr>
            </a:pPr>
            <a:r>
              <a:t>Cross-validation and hyperparameter tuning are the logical next steps before treating the result as final.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3D"/>
                </a:solidFill>
                <a:latin typeface="Aptos Display"/>
              </a:defRPr>
            </a:pPr>
            <a:r>
              <a:t>26. SMOTE-Tomek + Random Forest —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36E"/>
                </a:solidFill>
                <a:latin typeface="Aptos"/>
              </a:defRPr>
            </a:pPr>
            <a:r>
              <a:t>Detailed evaluation using the confusion matrix you provided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73D"/>
                          </a:solidFill>
                          <a:latin typeface="Aptos"/>
                        </a:defRPr>
                      </a:pPr>
                      <a:r>
                        <a:t>74</a:t>
                      </a:r>
                    </a:p>
                  </a:txBody>
                  <a:tcPr anchor="ctr">
                    <a:solidFill>
                      <a:srgbClr val="E8F6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73D"/>
                          </a:solidFill>
                          <a:latin typeface="Aptos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C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endParaRPr/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627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73D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273D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E8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537960" y="1417320"/>
            <a:ext cx="2240280" cy="1234440"/>
          </a:xfrm>
          <a:prstGeom prst="roundRect">
            <a:avLst/>
          </a:prstGeom>
          <a:solidFill>
            <a:srgbClr val="E7F1FC"/>
          </a:solidFill>
          <a:ln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True Negative (TN)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74 correctly predicted as did not survive.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7960" y="1417320"/>
            <a:ext cx="64008" cy="1234440"/>
          </a:xfrm>
          <a:prstGeom prst="rect">
            <a:avLst/>
          </a:prstGeom>
          <a:solidFill>
            <a:srgbClr val="3069A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06840" y="1417320"/>
            <a:ext cx="2240280" cy="1234440"/>
          </a:xfrm>
          <a:prstGeom prst="roundRect">
            <a:avLst/>
          </a:prstGeom>
          <a:solidFill>
            <a:srgbClr val="FCF1E1"/>
          </a:solidFill>
          <a:ln>
            <a:solidFill>
              <a:srgbClr val="FC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False Positive (FP)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18 predicted to survive but did not.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06840" y="1417320"/>
            <a:ext cx="64008" cy="1234440"/>
          </a:xfrm>
          <a:prstGeom prst="rect">
            <a:avLst/>
          </a:prstGeom>
          <a:solidFill>
            <a:srgbClr val="DD841F"/>
          </a:solidFill>
          <a:ln>
            <a:solidFill>
              <a:srgbClr val="DD8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37960" y="2880360"/>
            <a:ext cx="2240280" cy="1234440"/>
          </a:xfrm>
          <a:prstGeom prst="roundRect">
            <a:avLst/>
          </a:prstGeom>
          <a:solidFill>
            <a:srgbClr val="FCF1E1"/>
          </a:solidFill>
          <a:ln>
            <a:solidFill>
              <a:srgbClr val="FC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False Negative (FN)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9 survived but were predicted not to survive.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880360"/>
            <a:ext cx="64008" cy="1234440"/>
          </a:xfrm>
          <a:prstGeom prst="rect">
            <a:avLst/>
          </a:prstGeom>
          <a:solidFill>
            <a:srgbClr val="DD841F"/>
          </a:solidFill>
          <a:ln>
            <a:solidFill>
              <a:srgbClr val="DD8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006840" y="2880360"/>
            <a:ext cx="2240280" cy="123444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True Positive (TP)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56 correctly predicted as survivors.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2880360"/>
            <a:ext cx="64008" cy="1234440"/>
          </a:xfrm>
          <a:prstGeom prst="rect">
            <a:avLst/>
          </a:prstGeom>
          <a:solidFill>
            <a:srgbClr val="37965E"/>
          </a:solidFill>
          <a:ln>
            <a:solidFill>
              <a:srgbClr val="3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5532120"/>
            <a:ext cx="10424160" cy="59436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500" b="1">
                <a:solidFill>
                  <a:srgbClr val="16273D"/>
                </a:solidFill>
                <a:latin typeface="Aptos"/>
              </a:defRPr>
            </a:pPr>
            <a:r>
              <a:t>Key observation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56 of 65 actual survivors were detected; 74 of 92 actual non-survivors were correctly identified.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32120"/>
            <a:ext cx="64008" cy="594360"/>
          </a:xfrm>
          <a:prstGeom prst="rect">
            <a:avLst/>
          </a:prstGeom>
          <a:solidFill>
            <a:srgbClr val="229189"/>
          </a:solidFill>
          <a:ln>
            <a:solidFill>
              <a:srgbClr val="22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3D"/>
                </a:solidFill>
                <a:latin typeface="Aptos Display"/>
              </a:defRPr>
            </a:pPr>
            <a:r>
              <a:t>27. SMOTE-Tomek + Random Forest — Sensitivity &amp; Specificity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36E"/>
                </a:solidFill>
                <a:latin typeface="Aptos"/>
              </a:defRPr>
            </a:pPr>
            <a:r>
              <a:t>Detailed calculation and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1600200"/>
          </a:xfrm>
          <a:prstGeom prst="roundRect">
            <a:avLst/>
          </a:prstGeom>
          <a:solidFill>
            <a:srgbClr val="E7F1FC"/>
          </a:solidFill>
          <a:ln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Sensitivity / Recall — 86.15%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TP / (TP + FN)</a:t>
            </a:r>
            <a:br/>
            <a:r>
              <a:t>= 56 / (56 + 9)</a:t>
            </a:r>
            <a:br/>
            <a:r>
              <a:t>= 56 / 65 = 86.15%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600200"/>
          </a:xfrm>
          <a:prstGeom prst="rect">
            <a:avLst/>
          </a:prstGeom>
          <a:solidFill>
            <a:srgbClr val="3069A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325880"/>
            <a:ext cx="3383280" cy="160020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Specificity — 80.43%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TN / (TN + FP)</a:t>
            </a:r>
            <a:br/>
            <a:r>
              <a:t>= 74 / (74 + 18)</a:t>
            </a:r>
            <a:br/>
            <a:r>
              <a:t>= 74 / 92 = 80.43%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25880"/>
            <a:ext cx="64008" cy="1600200"/>
          </a:xfrm>
          <a:prstGeom prst="rect">
            <a:avLst/>
          </a:prstGeom>
          <a:solidFill>
            <a:srgbClr val="229189"/>
          </a:solidFill>
          <a:ln>
            <a:solidFill>
              <a:srgbClr val="22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383280" cy="1600200"/>
          </a:xfrm>
          <a:prstGeom prst="roundRect">
            <a:avLst/>
          </a:prstGeom>
          <a:solidFill>
            <a:srgbClr val="FCF1E1"/>
          </a:solidFill>
          <a:ln>
            <a:solidFill>
              <a:srgbClr val="FC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Precision — 75.68%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TP / (TP + FP)</a:t>
            </a:r>
            <a:br/>
            <a:r>
              <a:t>= 56 / (56 + 18)</a:t>
            </a:r>
            <a:br/>
            <a:r>
              <a:t>= 56 / 74 = 75.68%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64008" cy="1600200"/>
          </a:xfrm>
          <a:prstGeom prst="rect">
            <a:avLst/>
          </a:prstGeom>
          <a:solidFill>
            <a:srgbClr val="DD841F"/>
          </a:solidFill>
          <a:ln>
            <a:solidFill>
              <a:srgbClr val="DD8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3246120"/>
            <a:ext cx="5120640" cy="214884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Sensitivity: detecting actual survivors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There were 65 actual survivors. The model correctly identified 56 and missed 9. Therefore, it detected 86.15% of the actual survivors.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46120"/>
            <a:ext cx="64008" cy="2148840"/>
          </a:xfrm>
          <a:prstGeom prst="rect">
            <a:avLst/>
          </a:prstGeom>
          <a:solidFill>
            <a:srgbClr val="37965E"/>
          </a:solidFill>
          <a:ln>
            <a:solidFill>
              <a:srgbClr val="3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80760" y="3246120"/>
            <a:ext cx="5120640" cy="2148840"/>
          </a:xfrm>
          <a:prstGeom prst="roundRect">
            <a:avLst/>
          </a:prstGeom>
          <a:solidFill>
            <a:srgbClr val="E7F1FC"/>
          </a:solidFill>
          <a:ln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Specificity: detecting actual non-survivors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There were 92 actual non-survivors. The model correctly identified 74 and incorrectly predicted 18 as survivors. Therefore, specificity was 80.43%.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3246120"/>
            <a:ext cx="64008" cy="2148840"/>
          </a:xfrm>
          <a:prstGeom prst="rect">
            <a:avLst/>
          </a:prstGeom>
          <a:solidFill>
            <a:srgbClr val="3069A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5715000"/>
            <a:ext cx="10287000" cy="50292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500" b="1">
                <a:solidFill>
                  <a:srgbClr val="16273D"/>
                </a:solidFill>
                <a:latin typeface="Aptos"/>
              </a:defRPr>
            </a:pPr>
            <a:r>
              <a:t>Presentation takeaway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The model detects actual survivors at 86.15% sensitivity and actual non-survivors at 80.43% specificity.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715000"/>
            <a:ext cx="64008" cy="502920"/>
          </a:xfrm>
          <a:prstGeom prst="rect">
            <a:avLst/>
          </a:prstGeom>
          <a:solidFill>
            <a:srgbClr val="229189"/>
          </a:solidFill>
          <a:ln>
            <a:solidFill>
              <a:srgbClr val="22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73D"/>
                </a:solidFill>
                <a:latin typeface="Aptos Display"/>
              </a:defRPr>
            </a:pPr>
            <a:r>
              <a:t>28. Why SMOTE-Tomek + Random Forest?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36E"/>
                </a:solidFill>
                <a:latin typeface="Aptos"/>
              </a:defRPr>
            </a:pPr>
            <a:r>
              <a:t>How the sampling method and ensemble model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874519"/>
          </a:xfrm>
          <a:prstGeom prst="roundRect">
            <a:avLst/>
          </a:prstGeom>
          <a:solidFill>
            <a:srgbClr val="E7F1FC"/>
          </a:solidFill>
          <a:ln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1. SMOTE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Generates synthetic minority-class examples from nearby minority observations, giving the learner more balanced training information.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64008" cy="1874519"/>
          </a:xfrm>
          <a:prstGeom prst="rect">
            <a:avLst/>
          </a:prstGeom>
          <a:solidFill>
            <a:srgbClr val="3069A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51960" y="1325880"/>
            <a:ext cx="3337560" cy="1874519"/>
          </a:xfrm>
          <a:prstGeom prst="roundRect">
            <a:avLst/>
          </a:prstGeom>
          <a:solidFill>
            <a:srgbClr val="FCF1E1"/>
          </a:solidFill>
          <a:ln>
            <a:solidFill>
              <a:srgbClr val="FC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2. Tomek Links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Identifies very close observations from opposite classes and removes some ambiguous or overlapping pairs, helping clean the class boundary.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1325880"/>
            <a:ext cx="64008" cy="1874519"/>
          </a:xfrm>
          <a:prstGeom prst="rect">
            <a:avLst/>
          </a:prstGeom>
          <a:solidFill>
            <a:srgbClr val="DD841F"/>
          </a:solidFill>
          <a:ln>
            <a:solidFill>
              <a:srgbClr val="DD8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18120" y="1325880"/>
            <a:ext cx="3337560" cy="1874519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700" b="1">
                <a:solidFill>
                  <a:srgbClr val="16273D"/>
                </a:solidFill>
                <a:latin typeface="Aptos"/>
              </a:defRPr>
            </a:pPr>
            <a:r>
              <a:t>3. Random Forest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Combines predictions from many decision trees, allowing the ensemble to capture different patterns in the training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325880"/>
            <a:ext cx="64008" cy="1874519"/>
          </a:xfrm>
          <a:prstGeom prst="rect">
            <a:avLst/>
          </a:prstGeom>
          <a:solidFill>
            <a:srgbClr val="37965E"/>
          </a:solidFill>
          <a:ln>
            <a:solidFill>
              <a:srgbClr val="3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5074920" cy="1508760"/>
          </a:xfrm>
          <a:prstGeom prst="roundRect">
            <a:avLst/>
          </a:prstGeom>
          <a:solidFill>
            <a:srgbClr val="E8F6EC"/>
          </a:solidFill>
          <a:ln>
            <a:solidFill>
              <a:srgbClr val="E8F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Your supplied model result</a:t>
            </a:r>
          </a:p>
          <a:p>
            <a:pPr>
              <a:defRPr sz="1400">
                <a:solidFill>
                  <a:srgbClr val="5A636E"/>
                </a:solidFill>
                <a:latin typeface="Aptos"/>
              </a:defRPr>
            </a:pPr>
            <a:r>
              <a:t>SMOTE-Tomek + RF: 83.44% accuracy, 76.71% precision, 86.15% recall, and 81.16% F1.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64008" cy="1508760"/>
          </a:xfrm>
          <a:prstGeom prst="rect">
            <a:avLst/>
          </a:prstGeom>
          <a:solidFill>
            <a:srgbClr val="229189"/>
          </a:solidFill>
          <a:ln>
            <a:solidFill>
              <a:srgbClr val="22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89320" y="3520440"/>
            <a:ext cx="5166360" cy="1508760"/>
          </a:xfrm>
          <a:prstGeom prst="roundRect">
            <a:avLst/>
          </a:prstGeom>
          <a:solidFill>
            <a:srgbClr val="E7F1FC"/>
          </a:solidFill>
          <a:ln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600" b="1">
                <a:solidFill>
                  <a:srgbClr val="16273D"/>
                </a:solidFill>
                <a:latin typeface="Aptos"/>
              </a:defRPr>
            </a:pPr>
            <a:r>
              <a:t>What to say</a:t>
            </a:r>
          </a:p>
          <a:p>
            <a:pPr>
              <a:defRPr sz="1300">
                <a:solidFill>
                  <a:srgbClr val="5A636E"/>
                </a:solidFill>
                <a:latin typeface="Aptos"/>
              </a:defRPr>
            </a:pPr>
            <a:r>
              <a:t>“SMOTE-Tomek balances the minority class and cleans some borderline overlap, while Random Forest combines multiple trees. In our experiments this combination achieved strong accuracy and high recall.”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520440"/>
            <a:ext cx="64008" cy="1508760"/>
          </a:xfrm>
          <a:prstGeom prst="rect">
            <a:avLst/>
          </a:prstGeom>
          <a:solidFill>
            <a:srgbClr val="3069AA"/>
          </a:solidFill>
          <a:ln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5349240"/>
            <a:ext cx="10241280" cy="731520"/>
          </a:xfrm>
          <a:prstGeom prst="roundRect">
            <a:avLst/>
          </a:prstGeom>
          <a:solidFill>
            <a:srgbClr val="FCF1E1"/>
          </a:solidFill>
          <a:ln>
            <a:solidFill>
              <a:srgbClr val="FCF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Ins="109728" rtlCol="0" anchor="ctr"/>
          <a:lstStyle/>
          <a:p>
            <a:pPr algn="ctr">
              <a:defRPr sz="1200" b="1">
                <a:solidFill>
                  <a:srgbClr val="16273D"/>
                </a:solidFill>
                <a:latin typeface="Aptos"/>
              </a:defRPr>
            </a:pPr>
            <a:r>
              <a:t>Consistency note</a:t>
            </a:r>
          </a:p>
          <a:p>
            <a:pPr>
              <a:defRPr sz="1100">
                <a:solidFill>
                  <a:srgbClr val="5A636E"/>
                </a:solidFill>
                <a:latin typeface="Aptos"/>
              </a:defRPr>
            </a:pPr>
            <a:r>
              <a:t>Your supplied matrix [[74, 18], [9, 56]] implies 82.80% accuracy (130/157), while the comparison table lists 83.44%. This suggests the matrix may be from a different run/split. Use one consistent run in the final presentation.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349240"/>
            <a:ext cx="64008" cy="731520"/>
          </a:xfrm>
          <a:prstGeom prst="rect">
            <a:avLst/>
          </a:prstGeom>
          <a:solidFill>
            <a:srgbClr val="DD841F"/>
          </a:solidFill>
          <a:ln>
            <a:solidFill>
              <a:srgbClr val="DD8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7981A5-886F-B8ED-2501-43FA0549DBC2}"/>
              </a:ext>
            </a:extLst>
          </p:cNvPr>
          <p:cNvSpPr/>
          <p:nvPr/>
        </p:nvSpPr>
        <p:spPr>
          <a:xfrm>
            <a:off x="0" y="2967335"/>
            <a:ext cx="121920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4685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2279</Words>
  <Application>Microsoft Office PowerPoint</Application>
  <PresentationFormat>Widescreen</PresentationFormat>
  <Paragraphs>432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JK</dc:creator>
  <cp:keywords/>
  <dc:description>generated using python-pptx</dc:description>
  <cp:lastModifiedBy>GAGAN KUMAR J K</cp:lastModifiedBy>
  <cp:revision>10</cp:revision>
  <dcterms:created xsi:type="dcterms:W3CDTF">2013-01-27T09:14:16Z</dcterms:created>
  <dcterms:modified xsi:type="dcterms:W3CDTF">2026-09-23T07:13:59Z</dcterms:modified>
  <cp:category/>
</cp:coreProperties>
</file>